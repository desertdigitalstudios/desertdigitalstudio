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731520"/>
            <a:ext cx="164592" cy="4480560"/>
          </a:xfrm>
          <a:prstGeom prst="rect">
            <a:avLst/>
          </a:prstGeom>
          <a:solidFill>
            <a:srgbClr val="CAD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96926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FFFFFF"/>
                </a:solidFill>
                <a:latin typeface="Arial"/>
              </a:rPr>
              <a:t>Session 1: The Foundation of Leadership</a:t>
            </a:r>
          </a:p>
          <a:p>
            <a:r>
              <a:rPr sz="1800">
                <a:solidFill>
                  <a:srgbClr val="DCE2D9"/>
                </a:solidFill>
                <a:latin typeface="Arial"/>
              </a:rPr>
              <a:t>Influence and Trust | Leader Professional Development (LPD)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480560"/>
            <a:ext cx="6035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4E8E1"/>
                </a:solidFill>
                <a:latin typeface="Arial"/>
              </a:rPr>
              <a:t>Keynote-ready deck built from the provided lesson spreadsheet</a:t>
            </a:r>
          </a:p>
          <a:p>
            <a:r>
              <a:rPr sz="1400">
                <a:solidFill>
                  <a:srgbClr val="E4E8E1"/>
                </a:solidFill>
                <a:latin typeface="Arial"/>
              </a:rPr>
              <a:t>Crosswalks John C. Maxwell Leadership 101 with Army doctrine and leader development guidance</a:t>
            </a:r>
          </a:p>
          <a:p>
            <a:r>
              <a:rPr sz="1400">
                <a:solidFill>
                  <a:srgbClr val="E4E8E1"/>
                </a:solidFill>
                <a:latin typeface="Arial"/>
              </a:rPr>
              <a:t>Prepared for easy final editing before delivery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4069080"/>
            <a:ext cx="3886200" cy="1417320"/>
          </a:xfrm>
          <a:prstGeom prst="roundRect">
            <a:avLst/>
          </a:prstGeom>
          <a:solidFill>
            <a:srgbClr val="2B3932"/>
          </a:solidFill>
          <a:ln>
            <a:solidFill>
              <a:srgbClr val="4D6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26679" y="4315968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Leadership is influence, grounded in trust.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499262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6CB"/>
                </a:solidFill>
                <a:latin typeface="Arial"/>
              </a:rPr>
              <a:t>Maxwell + Army Doctrine Crosswalk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D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778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Purpose, Outcomes, and Flow</a:t>
            </a:r>
          </a:p>
          <a:p>
            <a:pPr/>
            <a:r>
              <a:rPr sz="1200">
                <a:solidFill>
                  <a:srgbClr val="DCE2D9"/>
                </a:solidFill>
                <a:latin typeface="Arial"/>
              </a:rPr>
              <a:t>Built as a ready-to-edit LPD brief for Soldiers and junior leaders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53949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AD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371600"/>
            <a:ext cx="5394960" cy="411480"/>
          </a:xfrm>
          <a:prstGeom prst="rect">
            <a:avLst/>
          </a:prstGeom>
          <a:solidFill>
            <a:srgbClr val="4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444752"/>
            <a:ext cx="5120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FFFFFF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883664"/>
            <a:ext cx="5102352" cy="3602736"/>
          </a:xfrm>
          <a:prstGeom prst="rect">
            <a:avLst/>
          </a:prstGeom>
          <a:noFill/>
        </p:spPr>
        <p:txBody>
          <a:bodyPr wrap="square" lIns="50800" rIns="50800" tIns="50800" bIns="2540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1D2822"/>
                </a:solidFill>
                <a:latin typeface="Arial"/>
              </a:rPr>
              <a:t>Connect Maxwell's Laws of the Lid, Influence, and Solid Ground to Army doctrine.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1D2822"/>
                </a:solidFill>
                <a:latin typeface="Arial"/>
              </a:rPr>
              <a:t>Identify behaviors that raise or lower a leader's effectiveness.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1D2822"/>
                </a:solidFill>
                <a:latin typeface="Arial"/>
              </a:rPr>
              <a:t>Discuss practical ways to build influence beyond rank.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1D2822"/>
                </a:solidFill>
                <a:latin typeface="Arial"/>
              </a:rPr>
              <a:t>Reinforce trust as the foundation of cohesive teams and mission success.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1D2822"/>
                </a:solidFill>
                <a:latin typeface="Arial"/>
              </a:rPr>
              <a:t>Leave with one 30-day action to improve leadership.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49240" cy="4206240"/>
          </a:xfrm>
          <a:prstGeom prst="roundRect">
            <a:avLst/>
          </a:prstGeom>
          <a:solidFill>
            <a:srgbClr val="FBFAF7"/>
          </a:solidFill>
          <a:ln>
            <a:solidFill>
              <a:srgbClr val="CAD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349240" cy="411480"/>
          </a:xfrm>
          <a:prstGeom prst="rect">
            <a:avLst/>
          </a:prstGeom>
          <a:solidFill>
            <a:srgbClr val="87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444752"/>
            <a:ext cx="5074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FFFFFF"/>
                </a:solidFill>
                <a:latin typeface="Arial"/>
              </a:rPr>
              <a:t>Recommended flow (45 to 60 min)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883664"/>
            <a:ext cx="5056632" cy="3602736"/>
          </a:xfrm>
          <a:prstGeom prst="rect">
            <a:avLst/>
          </a:prstGeom>
          <a:noFill/>
        </p:spPr>
        <p:txBody>
          <a:bodyPr wrap="square" lIns="50800" rIns="50800" tIns="50800" bIns="2540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1D2822"/>
                </a:solidFill>
                <a:latin typeface="Arial"/>
              </a:rPr>
              <a:t>5 to 10 min: Icebreaker and framing question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1D2822"/>
                </a:solidFill>
                <a:latin typeface="Arial"/>
              </a:rPr>
              <a:t>10 min: Why leadership foundations matter in the Army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1D2822"/>
                </a:solidFill>
                <a:latin typeface="Arial"/>
              </a:rPr>
              <a:t>15 to 20 min: Maxwell and doctrine crosswalk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1D2822"/>
                </a:solidFill>
                <a:latin typeface="Arial"/>
              </a:rPr>
              <a:t>10 to 15 min: Discussion and practical exercise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1D2822"/>
                </a:solidFill>
                <a:latin typeface="Arial"/>
              </a:rPr>
              <a:t>5 min: Commitments, takeaways, and close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06440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45D"/>
                </a:solidFill>
                <a:latin typeface="Arial"/>
              </a:rPr>
              <a:t>Tip: personalize this deck with your unit, recent examples, and one local leadership success story.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6400800"/>
            <a:ext cx="11338560" cy="18288"/>
          </a:xfrm>
          <a:prstGeom prst="rect">
            <a:avLst/>
          </a:prstGeom>
          <a:solidFill>
            <a:srgbClr val="4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1908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F58"/>
                </a:solidFill>
                <a:latin typeface="Arial"/>
              </a:rPr>
              <a:t>LPD Session 1 | Leadership Foundations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D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778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Why This Lesson Matters</a:t>
            </a:r>
          </a:p>
          <a:p>
            <a:pPr/>
            <a:r>
              <a:rPr sz="1200">
                <a:solidFill>
                  <a:srgbClr val="DCE2D9"/>
                </a:solidFill>
                <a:latin typeface="Arial"/>
              </a:rPr>
              <a:t>Army leadership is not just authority. It is the consistent ability to influence people and earn trust.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64008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CAD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D6448"/>
                </a:solidFill>
                <a:latin typeface="Arial"/>
              </a:rPr>
              <a:t>Why it matters in a 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5715000" cy="2834640"/>
          </a:xfrm>
          <a:prstGeom prst="rect">
            <a:avLst/>
          </a:prstGeom>
          <a:noFill/>
        </p:spPr>
        <p:txBody>
          <a:bodyPr wrap="square" lIns="50800" rIns="50800" tIns="50800" bIns="2540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>
                <a:solidFill>
                  <a:srgbClr val="1D2822"/>
                </a:solidFill>
                <a:latin typeface="Arial"/>
              </a:rPr>
              <a:t>Mission success depends on purpose, direction, motivation, and disciplined initiative.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>
                <a:solidFill>
                  <a:srgbClr val="1D2822"/>
                </a:solidFill>
                <a:latin typeface="Arial"/>
              </a:rPr>
              <a:t>Soldiers may obey rank, but they commit to leaders they trust and respect.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>
                <a:solidFill>
                  <a:srgbClr val="1D2822"/>
                </a:solidFill>
                <a:latin typeface="Arial"/>
              </a:rPr>
              <a:t>Every leader sets conditions for growth, standards, and climate.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>
                <a:solidFill>
                  <a:srgbClr val="1D2822"/>
                </a:solidFill>
                <a:latin typeface="Arial"/>
              </a:rPr>
              <a:t>Poor leadership does not stay personal. It lowers the ceiling for the whole team.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508760"/>
            <a:ext cx="4160520" cy="1828800"/>
          </a:xfrm>
          <a:prstGeom prst="roundRect">
            <a:avLst/>
          </a:prstGeom>
          <a:solidFill>
            <a:srgbClr val="FBFAF7"/>
          </a:solidFill>
          <a:ln>
            <a:solidFill>
              <a:srgbClr val="CAD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0" y="1508760"/>
            <a:ext cx="4160520" cy="411480"/>
          </a:xfrm>
          <a:prstGeom prst="rect">
            <a:avLst/>
          </a:prstGeom>
          <a:solidFill>
            <a:srgbClr val="87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79792" y="1581912"/>
            <a:ext cx="3886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FFFFFF"/>
                </a:solidFill>
                <a:latin typeface="Arial"/>
              </a:rPr>
              <a:t>Anchor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79792" y="2020824"/>
            <a:ext cx="3867912" cy="1225296"/>
          </a:xfrm>
          <a:prstGeom prst="rect">
            <a:avLst/>
          </a:prstGeom>
          <a:noFill/>
        </p:spPr>
        <p:txBody>
          <a:bodyPr wrap="square" lIns="50800" rIns="50800" tIns="50800" bIns="2540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1D2822"/>
                </a:solidFill>
                <a:latin typeface="Arial"/>
              </a:rPr>
              <a:t>A leader who develops self, influences well, and protects trust gives the unit an operational advantage.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3611880"/>
            <a:ext cx="4160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AD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0" y="3611880"/>
            <a:ext cx="4160520" cy="411480"/>
          </a:xfrm>
          <a:prstGeom prst="rect">
            <a:avLst/>
          </a:prstGeom>
          <a:solidFill>
            <a:srgbClr val="4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79792" y="3685032"/>
            <a:ext cx="3886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FFFFFF"/>
                </a:solidFill>
                <a:latin typeface="Arial"/>
              </a:rPr>
              <a:t>Use this question to open discussion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9792" y="4123944"/>
            <a:ext cx="3867912" cy="722376"/>
          </a:xfrm>
          <a:prstGeom prst="rect">
            <a:avLst/>
          </a:prstGeom>
          <a:noFill/>
        </p:spPr>
        <p:txBody>
          <a:bodyPr wrap="square" lIns="50800" rIns="50800" tIns="50800" bIns="2540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1D2822"/>
                </a:solidFill>
                <a:latin typeface="Arial"/>
              </a:rPr>
              <a:t>When Soldiers talk about good leaders they have had, what do they usually remember most?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400800"/>
            <a:ext cx="11338560" cy="18288"/>
          </a:xfrm>
          <a:prstGeom prst="rect">
            <a:avLst/>
          </a:prstGeom>
          <a:solidFill>
            <a:srgbClr val="4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1908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F58"/>
                </a:solidFill>
                <a:latin typeface="Arial"/>
              </a:rPr>
              <a:t>LPD Session 1 | Leadership Foundations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10789920" cy="749808"/>
          </a:xfrm>
          <a:prstGeom prst="roundRect">
            <a:avLst/>
          </a:prstGeom>
          <a:solidFill>
            <a:srgbClr val="E6DFCB"/>
          </a:solidFill>
          <a:ln>
            <a:solidFill>
              <a:srgbClr val="D3C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5486400"/>
            <a:ext cx="10378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D2822"/>
                </a:solidFill>
                <a:latin typeface="Arial"/>
              </a:rPr>
              <a:t>"A real leader knows the difference between being a boss and being a leader."</a:t>
            </a:r>
          </a:p>
          <a:p>
            <a:r>
              <a:rPr sz="1100">
                <a:solidFill>
                  <a:srgbClr val="5C5346"/>
                </a:solidFill>
                <a:latin typeface="Arial"/>
              </a:rPr>
              <a:t>John C. Maxwell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D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778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Maxwell to Army Doctrine Crosswalk</a:t>
            </a:r>
          </a:p>
          <a:p>
            <a:pPr/>
            <a:r>
              <a:rPr sz="1200">
                <a:solidFill>
                  <a:srgbClr val="DCE2D9"/>
                </a:solidFill>
                <a:latin typeface="Arial"/>
              </a:rPr>
              <a:t>The lesson works because the concepts match what Army doctrine already expects from leaders.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508760"/>
          <a:ext cx="1088136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383280"/>
                <a:gridCol w="4754880"/>
              </a:tblGrid>
              <a:tr h="76581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Maxwell principle</a:t>
                      </a:r>
                    </a:p>
                  </a:txBody>
                  <a:tcPr>
                    <a:solidFill>
                      <a:srgbClr val="4D64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Primary Army references</a:t>
                      </a:r>
                    </a:p>
                  </a:txBody>
                  <a:tcPr>
                    <a:solidFill>
                      <a:srgbClr val="4D64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Army leadership concept</a:t>
                      </a:r>
                    </a:p>
                  </a:txBody>
                  <a:tcPr>
                    <a:solidFill>
                      <a:srgbClr val="4D6448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D2822"/>
                          </a:solidFill>
                          <a:latin typeface="Arial"/>
                        </a:rPr>
                        <a:t>Law of the Lid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D2822"/>
                          </a:solidFill>
                          <a:latin typeface="Arial"/>
                        </a:rPr>
                        <a:t>ADP 6-22, FM 6-22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D2822"/>
                          </a:solidFill>
                          <a:latin typeface="Arial"/>
                        </a:rPr>
                        <a:t>Leader development and self-development raise a leader's ceiling and improve unit effectiveness.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D2822"/>
                          </a:solidFill>
                          <a:latin typeface="Arial"/>
                        </a:rPr>
                        <a:t>Law of Influence</a:t>
                      </a:r>
                    </a:p>
                  </a:txBody>
                  <a:tcPr>
                    <a:solidFill>
                      <a:srgbClr val="F8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D2822"/>
                          </a:solidFill>
                          <a:latin typeface="Arial"/>
                        </a:rPr>
                        <a:t>ADP 6-22, FM 1</a:t>
                      </a:r>
                    </a:p>
                  </a:txBody>
                  <a:tcPr>
                    <a:solidFill>
                      <a:srgbClr val="F8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D2822"/>
                          </a:solidFill>
                          <a:latin typeface="Arial"/>
                        </a:rPr>
                        <a:t>Leadership is the process of influencing people by providing purpose, direction, and motivation.</a:t>
                      </a:r>
                    </a:p>
                  </a:txBody>
                  <a:tcPr>
                    <a:solidFill>
                      <a:srgbClr val="F8F8F4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D2822"/>
                          </a:solidFill>
                          <a:latin typeface="Arial"/>
                        </a:rPr>
                        <a:t>Law of Solid Ground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D2822"/>
                          </a:solidFill>
                          <a:latin typeface="Arial"/>
                        </a:rPr>
                        <a:t>AR 600-100, DA PAM 165-19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D2822"/>
                          </a:solidFill>
                          <a:latin typeface="Arial"/>
                        </a:rPr>
                        <a:t>Trust is the bedrock of the profession and depends on character, competence, and commitment.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68680" y="4892040"/>
            <a:ext cx="10332720" cy="960120"/>
          </a:xfrm>
          <a:prstGeom prst="roundRect">
            <a:avLst/>
          </a:prstGeom>
          <a:solidFill>
            <a:srgbClr val="FBFAF7"/>
          </a:solidFill>
          <a:ln>
            <a:solidFill>
              <a:srgbClr val="CAD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4892040"/>
            <a:ext cx="10332720" cy="411480"/>
          </a:xfrm>
          <a:prstGeom prst="rect">
            <a:avLst/>
          </a:prstGeom>
          <a:solidFill>
            <a:srgbClr val="87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" y="4965192"/>
            <a:ext cx="10058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FFFFFF"/>
                </a:solidFill>
                <a:latin typeface="Arial"/>
              </a:rPr>
              <a:t>Use this framing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5404104"/>
            <a:ext cx="10040112" cy="356616"/>
          </a:xfrm>
          <a:prstGeom prst="rect">
            <a:avLst/>
          </a:prstGeom>
          <a:noFill/>
        </p:spPr>
        <p:txBody>
          <a:bodyPr wrap="square" lIns="50800" rIns="50800" tIns="50800" bIns="2540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1D2822"/>
                </a:solidFill>
                <a:latin typeface="Arial"/>
              </a:rPr>
              <a:t>These are not outside ideas replacing Army leadership. They are a practical way to explain the same standards we already expect in our formation.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400800"/>
            <a:ext cx="11338560" cy="18288"/>
          </a:xfrm>
          <a:prstGeom prst="rect">
            <a:avLst/>
          </a:prstGeom>
          <a:solidFill>
            <a:srgbClr val="4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F58"/>
                </a:solidFill>
                <a:latin typeface="Arial"/>
              </a:rPr>
              <a:t>LPD Session 1 | Leadership Foundations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D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778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Law of the Lid</a:t>
            </a:r>
          </a:p>
          <a:p>
            <a:pPr/>
            <a:r>
              <a:rPr sz="1200">
                <a:solidFill>
                  <a:srgbClr val="DCE2D9"/>
                </a:solidFill>
                <a:latin typeface="Arial"/>
              </a:rPr>
              <a:t>Leadership ability determines a person's level of effectiveness.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577840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CAD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D6448"/>
                </a:solidFill>
                <a:latin typeface="Arial"/>
              </a:rPr>
              <a:t>Army connection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4892040" cy="3566160"/>
          </a:xfrm>
          <a:prstGeom prst="rect">
            <a:avLst/>
          </a:prstGeom>
          <a:noFill/>
        </p:spPr>
        <p:txBody>
          <a:bodyPr wrap="square" lIns="50800" rIns="50800" tIns="50800" bIns="2540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>
                <a:solidFill>
                  <a:srgbClr val="1D2822"/>
                </a:solidFill>
                <a:latin typeface="Arial"/>
              </a:rPr>
              <a:t>ADP 6-22 and FM 6-22 emphasize continuous leader development and self-development.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>
                <a:solidFill>
                  <a:srgbClr val="1D2822"/>
                </a:solidFill>
                <a:latin typeface="Arial"/>
              </a:rPr>
              <a:t>Leaders are responsible for raising their own ceiling and helping subordinates raise theirs.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>
                <a:solidFill>
                  <a:srgbClr val="1D2822"/>
                </a:solidFill>
                <a:latin typeface="Arial"/>
              </a:rPr>
              <a:t>PME, repetition, coaching, counseling, and honest feedback all raise the lid.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417320"/>
            <a:ext cx="4983480" cy="2743200"/>
          </a:xfrm>
          <a:prstGeom prst="roundRect">
            <a:avLst/>
          </a:prstGeom>
          <a:solidFill>
            <a:srgbClr val="FBFAF7"/>
          </a:solidFill>
          <a:ln>
            <a:solidFill>
              <a:srgbClr val="CAD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92240" y="1417320"/>
            <a:ext cx="4983480" cy="411480"/>
          </a:xfrm>
          <a:prstGeom prst="rect">
            <a:avLst/>
          </a:prstGeom>
          <a:solidFill>
            <a:srgbClr val="87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56832" y="1490472"/>
            <a:ext cx="4709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FFFFFF"/>
                </a:solidFill>
                <a:latin typeface="Arial"/>
              </a:rPr>
              <a:t>Discussion prompts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6832" y="1929384"/>
            <a:ext cx="4690872" cy="2139696"/>
          </a:xfrm>
          <a:prstGeom prst="rect">
            <a:avLst/>
          </a:prstGeom>
          <a:noFill/>
        </p:spPr>
        <p:txBody>
          <a:bodyPr wrap="square" lIns="50800" rIns="50800" tIns="50800" bIns="2540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1D2822"/>
                </a:solidFill>
                <a:latin typeface="Arial"/>
              </a:rPr>
              <a:t>How does the Army's emphasis on PME, assignments, and self-development raise a leader's lid?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1D2822"/>
                </a:solidFill>
                <a:latin typeface="Arial"/>
              </a:rPr>
              <a:t>What is one lid that commonly limits junior leaders in our formation?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1D2822"/>
                </a:solidFill>
                <a:latin typeface="Arial"/>
              </a:rPr>
              <a:t>How can we build a climate where growth is expected instead of optional?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4434840"/>
            <a:ext cx="49834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AD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4434840"/>
            <a:ext cx="4983480" cy="411480"/>
          </a:xfrm>
          <a:prstGeom prst="rect">
            <a:avLst/>
          </a:prstGeom>
          <a:solidFill>
            <a:srgbClr val="4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56832" y="4507992"/>
            <a:ext cx="4709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FFFFFF"/>
                </a:solidFill>
                <a:latin typeface="Arial"/>
              </a:rPr>
              <a:t>Suggested leader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4946904"/>
            <a:ext cx="4690872" cy="905256"/>
          </a:xfrm>
          <a:prstGeom prst="rect">
            <a:avLst/>
          </a:prstGeom>
          <a:noFill/>
        </p:spPr>
        <p:txBody>
          <a:bodyPr wrap="square" lIns="50800" rIns="50800" tIns="50800" bIns="2540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1D2822"/>
                </a:solidFill>
                <a:latin typeface="Arial"/>
              </a:rPr>
              <a:t>Have each person identify one competency to improve in the next 30 days.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400800"/>
            <a:ext cx="11338560" cy="18288"/>
          </a:xfrm>
          <a:prstGeom prst="rect">
            <a:avLst/>
          </a:prstGeom>
          <a:solidFill>
            <a:srgbClr val="4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1908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F58"/>
                </a:solidFill>
                <a:latin typeface="Arial"/>
              </a:rPr>
              <a:t>LPD Session 1 | Leadership Foundations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10789920" cy="749808"/>
          </a:xfrm>
          <a:prstGeom prst="roundRect">
            <a:avLst/>
          </a:prstGeom>
          <a:solidFill>
            <a:srgbClr val="E6DFCB"/>
          </a:solidFill>
          <a:ln>
            <a:solidFill>
              <a:srgbClr val="D3C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5486400"/>
            <a:ext cx="10378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D2822"/>
                </a:solidFill>
                <a:latin typeface="Arial"/>
              </a:rPr>
              <a:t>"The lower an individual's ability to lead, the lower the lid on his potential. The higher the leadership, the greater the effectiveness."</a:t>
            </a:r>
          </a:p>
          <a:p>
            <a:r>
              <a:rPr sz="1100">
                <a:solidFill>
                  <a:srgbClr val="5C5346"/>
                </a:solidFill>
                <a:latin typeface="Arial"/>
              </a:rPr>
              <a:t>John C. Maxwell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D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778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Law of Influence</a:t>
            </a:r>
          </a:p>
          <a:p>
            <a:pPr/>
            <a:r>
              <a:rPr sz="1200">
                <a:solidFill>
                  <a:srgbClr val="DCE2D9"/>
                </a:solidFill>
                <a:latin typeface="Arial"/>
              </a:rPr>
              <a:t>The true measure of leadership is influence, nothing more, nothing less.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532120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CAD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D6448"/>
                </a:solidFill>
                <a:latin typeface="Arial"/>
              </a:rPr>
              <a:t>Army connection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4892040" cy="3566160"/>
          </a:xfrm>
          <a:prstGeom prst="rect">
            <a:avLst/>
          </a:prstGeom>
          <a:noFill/>
        </p:spPr>
        <p:txBody>
          <a:bodyPr wrap="square" lIns="50800" rIns="50800" tIns="50800" bIns="2540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>
                <a:solidFill>
                  <a:srgbClr val="1D2822"/>
                </a:solidFill>
                <a:latin typeface="Arial"/>
              </a:rPr>
              <a:t>ADP 6-22 defines leadership as influencing people by providing purpose, direction, and motivation.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>
                <a:solidFill>
                  <a:srgbClr val="1D2822"/>
                </a:solidFill>
                <a:latin typeface="Arial"/>
              </a:rPr>
              <a:t>Rank gives authority. Influence earns trust, effort, initiative, and follow-through.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>
                <a:solidFill>
                  <a:srgbClr val="1D2822"/>
                </a:solidFill>
                <a:latin typeface="Arial"/>
              </a:rPr>
              <a:t>Leaders build influence when they explain the why, set the example, and show they know their people.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417320"/>
            <a:ext cx="5029200" cy="2423160"/>
          </a:xfrm>
          <a:prstGeom prst="roundRect">
            <a:avLst/>
          </a:prstGeom>
          <a:solidFill>
            <a:srgbClr val="FBFAF7"/>
          </a:solidFill>
          <a:ln>
            <a:solidFill>
              <a:srgbClr val="CAD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46520" y="1417320"/>
            <a:ext cx="5029200" cy="411480"/>
          </a:xfrm>
          <a:prstGeom prst="rect">
            <a:avLst/>
          </a:prstGeom>
          <a:solidFill>
            <a:srgbClr val="87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1112" y="1490472"/>
            <a:ext cx="4754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FFFFFF"/>
                </a:solidFill>
                <a:latin typeface="Arial"/>
              </a:rPr>
              <a:t>Practical ways to build influence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1112" y="1929384"/>
            <a:ext cx="4736592" cy="1819656"/>
          </a:xfrm>
          <a:prstGeom prst="rect">
            <a:avLst/>
          </a:prstGeom>
          <a:noFill/>
        </p:spPr>
        <p:txBody>
          <a:bodyPr wrap="square" lIns="50800" rIns="50800" tIns="50800" bIns="2540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1D2822"/>
                </a:solidFill>
                <a:latin typeface="Arial"/>
              </a:rPr>
              <a:t>Be consistent and keep standards fair.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1D2822"/>
                </a:solidFill>
                <a:latin typeface="Arial"/>
              </a:rPr>
              <a:t>Communicate intent, not just orders.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1D2822"/>
                </a:solidFill>
                <a:latin typeface="Arial"/>
              </a:rPr>
              <a:t>Know your Soldiers and their motivations.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1D2822"/>
                </a:solidFill>
                <a:latin typeface="Arial"/>
              </a:rPr>
              <a:t>Solve problems instead of hiding behind rank.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4160520"/>
            <a:ext cx="50292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CAD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6520" y="4160520"/>
            <a:ext cx="5029200" cy="411480"/>
          </a:xfrm>
          <a:prstGeom prst="rect">
            <a:avLst/>
          </a:prstGeom>
          <a:solidFill>
            <a:srgbClr val="4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2" y="4233672"/>
            <a:ext cx="4754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FFFFFF"/>
                </a:solidFill>
                <a:latin typeface="Arial"/>
              </a:rPr>
              <a:t>Discussion 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4672584"/>
            <a:ext cx="4736592" cy="1179576"/>
          </a:xfrm>
          <a:prstGeom prst="rect">
            <a:avLst/>
          </a:prstGeom>
          <a:noFill/>
        </p:spPr>
        <p:txBody>
          <a:bodyPr wrap="square" lIns="50800" rIns="50800" tIns="50800" bIns="2540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1D2822"/>
                </a:solidFill>
                <a:latin typeface="Arial"/>
              </a:rPr>
              <a:t>How do we build influence beyond our rank so Soldiers want to follow, not just comply?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400800"/>
            <a:ext cx="11338560" cy="18288"/>
          </a:xfrm>
          <a:prstGeom prst="rect">
            <a:avLst/>
          </a:prstGeom>
          <a:solidFill>
            <a:srgbClr val="4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1908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F58"/>
                </a:solidFill>
                <a:latin typeface="Arial"/>
              </a:rPr>
              <a:t>LPD Session 1 | Leadership Foundations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10789920" cy="749808"/>
          </a:xfrm>
          <a:prstGeom prst="roundRect">
            <a:avLst/>
          </a:prstGeom>
          <a:solidFill>
            <a:srgbClr val="E6DFCB"/>
          </a:solidFill>
          <a:ln>
            <a:solidFill>
              <a:srgbClr val="D3C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5486400"/>
            <a:ext cx="10378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D2822"/>
                </a:solidFill>
                <a:latin typeface="Arial"/>
              </a:rPr>
              <a:t>"A real leader knows the difference between being a boss and being a leader."</a:t>
            </a:r>
          </a:p>
          <a:p>
            <a:r>
              <a:rPr sz="1100">
                <a:solidFill>
                  <a:srgbClr val="5C5346"/>
                </a:solidFill>
                <a:latin typeface="Arial"/>
              </a:rPr>
              <a:t>John C. Maxwell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D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778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Law of Solid Ground</a:t>
            </a:r>
          </a:p>
          <a:p>
            <a:pPr/>
            <a:r>
              <a:rPr sz="1200">
                <a:solidFill>
                  <a:srgbClr val="DCE2D9"/>
                </a:solidFill>
                <a:latin typeface="Arial"/>
              </a:rPr>
              <a:t>Trust is the foundation of leadership.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577840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CAD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D6448"/>
                </a:solidFill>
                <a:latin typeface="Arial"/>
              </a:rPr>
              <a:t>Army connection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4892040" cy="3566160"/>
          </a:xfrm>
          <a:prstGeom prst="rect">
            <a:avLst/>
          </a:prstGeom>
          <a:noFill/>
        </p:spPr>
        <p:txBody>
          <a:bodyPr wrap="square" lIns="50800" rIns="50800" tIns="50800" bIns="2540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>
                <a:solidFill>
                  <a:srgbClr val="1D2822"/>
                </a:solidFill>
                <a:latin typeface="Arial"/>
              </a:rPr>
              <a:t>AR 600-100 and DA PAM 165-19 frame trust as foundational to the Army profession.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>
                <a:solidFill>
                  <a:srgbClr val="1D2822"/>
                </a:solidFill>
                <a:latin typeface="Arial"/>
              </a:rPr>
              <a:t>Trust grows from character, competence, and commitment, not from slogans.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>
                <a:solidFill>
                  <a:srgbClr val="1D2822"/>
                </a:solidFill>
                <a:latin typeface="Arial"/>
              </a:rPr>
              <a:t>Without trust, standards slip, communication narrows, and cohesion breaks down.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417320"/>
            <a:ext cx="5029200" cy="2468880"/>
          </a:xfrm>
          <a:prstGeom prst="roundRect">
            <a:avLst/>
          </a:prstGeom>
          <a:solidFill>
            <a:srgbClr val="FBFAF7"/>
          </a:solidFill>
          <a:ln>
            <a:solidFill>
              <a:srgbClr val="CAD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46520" y="1417320"/>
            <a:ext cx="5029200" cy="411480"/>
          </a:xfrm>
          <a:prstGeom prst="rect">
            <a:avLst/>
          </a:prstGeom>
          <a:solidFill>
            <a:srgbClr val="87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1112" y="1490472"/>
            <a:ext cx="4754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FFFFFF"/>
                </a:solidFill>
                <a:latin typeface="Arial"/>
              </a:rPr>
              <a:t>Trust builders and trust breakers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1112" y="1929384"/>
            <a:ext cx="4736592" cy="1865376"/>
          </a:xfrm>
          <a:prstGeom prst="rect">
            <a:avLst/>
          </a:prstGeom>
          <a:noFill/>
        </p:spPr>
        <p:txBody>
          <a:bodyPr wrap="square" lIns="50800" rIns="50800" tIns="50800" bIns="2540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1D2822"/>
                </a:solidFill>
                <a:latin typeface="Arial"/>
              </a:rPr>
              <a:t>Build trust: honesty, competence, follow-through, fairness, accountability.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1D2822"/>
                </a:solidFill>
                <a:latin typeface="Arial"/>
              </a:rPr>
              <a:t>Break trust: favoritism, inconsistency, gossip, weak moral courage, empty promises.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4160520"/>
            <a:ext cx="50292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CAD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6520" y="4160520"/>
            <a:ext cx="5029200" cy="411480"/>
          </a:xfrm>
          <a:prstGeom prst="rect">
            <a:avLst/>
          </a:prstGeom>
          <a:solidFill>
            <a:srgbClr val="4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2" y="4233672"/>
            <a:ext cx="4754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FFFFFF"/>
                </a:solidFill>
                <a:latin typeface="Arial"/>
              </a:rPr>
              <a:t>Discussion 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4672584"/>
            <a:ext cx="4736592" cy="1179576"/>
          </a:xfrm>
          <a:prstGeom prst="rect">
            <a:avLst/>
          </a:prstGeom>
          <a:noFill/>
        </p:spPr>
        <p:txBody>
          <a:bodyPr wrap="square" lIns="50800" rIns="50800" tIns="50800" bIns="2540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1D2822"/>
                </a:solidFill>
                <a:latin typeface="Arial"/>
              </a:rPr>
              <a:t>What actions erode trust fastest in a unit, and how do leaders rebuild it after failure?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400800"/>
            <a:ext cx="11338560" cy="18288"/>
          </a:xfrm>
          <a:prstGeom prst="rect">
            <a:avLst/>
          </a:prstGeom>
          <a:solidFill>
            <a:srgbClr val="4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1908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F58"/>
                </a:solidFill>
                <a:latin typeface="Arial"/>
              </a:rPr>
              <a:t>LPD Session 1 | Leadership Foundations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10789920" cy="749808"/>
          </a:xfrm>
          <a:prstGeom prst="roundRect">
            <a:avLst/>
          </a:prstGeom>
          <a:solidFill>
            <a:srgbClr val="E6DFCB"/>
          </a:solidFill>
          <a:ln>
            <a:solidFill>
              <a:srgbClr val="D3C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5486400"/>
            <a:ext cx="10378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D2822"/>
                </a:solidFill>
                <a:latin typeface="Arial"/>
              </a:rPr>
              <a:t>"Trust is the bedrock upon which we ground our relationship with the American people."</a:t>
            </a:r>
          </a:p>
          <a:p>
            <a:r>
              <a:rPr sz="1100">
                <a:solidFill>
                  <a:srgbClr val="5C5346"/>
                </a:solidFill>
                <a:latin typeface="Arial"/>
              </a:rPr>
              <a:t>DA PAM 165-19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D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778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Practical Application Exercises</a:t>
            </a:r>
          </a:p>
          <a:p>
            <a:pPr/>
            <a:r>
              <a:rPr sz="1200">
                <a:solidFill>
                  <a:srgbClr val="DCE2D9"/>
                </a:solidFill>
                <a:latin typeface="Arial"/>
              </a:rPr>
              <a:t>Use one exercise if time is short, or both if you want stronger engagement and ownership.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AD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349240" cy="411480"/>
          </a:xfrm>
          <a:prstGeom prst="rect">
            <a:avLst/>
          </a:prstGeom>
          <a:solidFill>
            <a:srgbClr val="4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490472"/>
            <a:ext cx="5074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FFFFFF"/>
                </a:solidFill>
                <a:latin typeface="Arial"/>
              </a:rPr>
              <a:t>Exercise 1: The Lid self-assessment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929384"/>
            <a:ext cx="5056632" cy="3922776"/>
          </a:xfrm>
          <a:prstGeom prst="rect">
            <a:avLst/>
          </a:prstGeom>
          <a:noFill/>
        </p:spPr>
        <p:txBody>
          <a:bodyPr wrap="square" lIns="50800" rIns="50800" tIns="50800" bIns="2540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1D2822"/>
                </a:solidFill>
                <a:latin typeface="Arial"/>
              </a:rPr>
              <a:t>Have leaders rate themselves against ADP 6-22 competencies: Leads, Develops, Achieves.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1D2822"/>
                </a:solidFill>
                <a:latin typeface="Arial"/>
              </a:rPr>
              <a:t>Ask: What is the single biggest lid holding back my effectiveness right now?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1D2822"/>
                </a:solidFill>
                <a:latin typeface="Arial"/>
              </a:rPr>
              <a:t>Ask: Which Army publication or mentor can help me improve?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1D2822"/>
                </a:solidFill>
                <a:latin typeface="Arial"/>
              </a:rPr>
              <a:t>Ask: What one action will I take in the next 30 days?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1D2822"/>
                </a:solidFill>
                <a:latin typeface="Arial"/>
              </a:rPr>
              <a:t>Close with small-group sharing of goals, not private weaknesses.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349240" cy="4526280"/>
          </a:xfrm>
          <a:prstGeom prst="roundRect">
            <a:avLst/>
          </a:prstGeom>
          <a:solidFill>
            <a:srgbClr val="FBFAF7"/>
          </a:solidFill>
          <a:ln>
            <a:solidFill>
              <a:srgbClr val="CAD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417320"/>
            <a:ext cx="5349240" cy="411480"/>
          </a:xfrm>
          <a:prstGeom prst="rect">
            <a:avLst/>
          </a:prstGeom>
          <a:solidFill>
            <a:srgbClr val="87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490472"/>
            <a:ext cx="5074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FFFFFF"/>
                </a:solidFill>
                <a:latin typeface="Arial"/>
              </a:rPr>
              <a:t>Exercise 2: Influence beyond rank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929384"/>
            <a:ext cx="5056632" cy="3922776"/>
          </a:xfrm>
          <a:prstGeom prst="rect">
            <a:avLst/>
          </a:prstGeom>
          <a:noFill/>
        </p:spPr>
        <p:txBody>
          <a:bodyPr wrap="square" lIns="50800" rIns="50800" tIns="50800" bIns="2540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1D2822"/>
                </a:solidFill>
                <a:latin typeface="Arial"/>
              </a:rPr>
              <a:t>Pair up: one squad leader, one skeptical new Soldier.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1D2822"/>
                </a:solidFill>
                <a:latin typeface="Arial"/>
              </a:rPr>
              <a:t>Scenario: a last-minute clean-up detail cancels early release.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1D2822"/>
                </a:solidFill>
                <a:latin typeface="Arial"/>
              </a:rPr>
              <a:t>Task: earn buy-in without saying, "because I said so."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1D2822"/>
                </a:solidFill>
                <a:latin typeface="Arial"/>
              </a:rPr>
              <a:t>After the role-play, ask what words or behaviors actually influenced followership.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1D2822"/>
                </a:solidFill>
                <a:latin typeface="Arial"/>
              </a:rPr>
              <a:t>AAR focus: clarity, empathy, standards, and leader presence.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400800"/>
            <a:ext cx="11338560" cy="18288"/>
          </a:xfrm>
          <a:prstGeom prst="rect">
            <a:avLst/>
          </a:prstGeom>
          <a:solidFill>
            <a:srgbClr val="4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F58"/>
                </a:solidFill>
                <a:latin typeface="Arial"/>
              </a:rPr>
              <a:t>LPD Session 1 | Leadership Foundations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D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778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Icebreaker Options</a:t>
            </a:r>
          </a:p>
          <a:p>
            <a:pPr/>
            <a:r>
              <a:rPr sz="1200">
                <a:solidFill>
                  <a:srgbClr val="DCE2D9"/>
                </a:solidFill>
                <a:latin typeface="Arial"/>
              </a:rPr>
              <a:t>Pick one based on time, audience maturity, and how much participation you want up front.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3949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CAD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72200" y="1371600"/>
            <a:ext cx="5349240" cy="4800600"/>
          </a:xfrm>
          <a:prstGeom prst="roundRect">
            <a:avLst/>
          </a:prstGeom>
          <a:solidFill>
            <a:srgbClr val="FBFAF7"/>
          </a:solidFill>
          <a:ln>
            <a:solidFill>
              <a:srgbClr val="CAD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D6448"/>
                </a:solidFill>
                <a:latin typeface="Arial"/>
              </a:rPr>
              <a:t>Best quick options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4663440" cy="3794760"/>
          </a:xfrm>
          <a:prstGeom prst="rect">
            <a:avLst/>
          </a:prstGeom>
          <a:noFill/>
        </p:spPr>
        <p:txBody>
          <a:bodyPr wrap="square" lIns="50800" rIns="50800" tIns="50800" bIns="2540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700">
                <a:solidFill>
                  <a:srgbClr val="1D2822"/>
                </a:solidFill>
                <a:latin typeface="Arial"/>
              </a:rPr>
              <a:t>One Word for Leadership, 3 to 5 min. Ask each person for one word and one sentence why.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700">
                <a:solidFill>
                  <a:srgbClr val="1D2822"/>
                </a:solidFill>
                <a:latin typeface="Arial"/>
              </a:rPr>
              <a:t>Leadership If-Then Statement, 3 to 5 min. Example: If I prioritize Soldiers' development, then...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700">
                <a:solidFill>
                  <a:srgbClr val="1D2822"/>
                </a:solidFill>
                <a:latin typeface="Arial"/>
              </a:rPr>
              <a:t>Two Truths and a Lie, leadership edition, 5 to 7 min for a lighter start.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76F4A"/>
                </a:solidFill>
                <a:latin typeface="Arial"/>
              </a:rPr>
              <a:t>Best deeper options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65960"/>
            <a:ext cx="4663440" cy="3794760"/>
          </a:xfrm>
          <a:prstGeom prst="rect">
            <a:avLst/>
          </a:prstGeom>
          <a:noFill/>
        </p:spPr>
        <p:txBody>
          <a:bodyPr wrap="square" lIns="50800" rIns="50800" tIns="50800" bIns="2540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700">
                <a:solidFill>
                  <a:srgbClr val="1D2822"/>
                </a:solidFill>
                <a:latin typeface="Arial"/>
              </a:rPr>
              <a:t>Leadership Superpower, 7 to 10 min. Good for surfacing values and humor.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700">
                <a:solidFill>
                  <a:srgbClr val="1D2822"/>
                </a:solidFill>
                <a:latin typeface="Arial"/>
              </a:rPr>
              <a:t>Most Valuable Leadership Lesson Learned, 10 to 15 min. Best for experienced groups.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700">
                <a:solidFill>
                  <a:srgbClr val="1D2822"/>
                </a:solidFill>
                <a:latin typeface="Arial"/>
              </a:rPr>
              <a:t>Recommendation: use One Word for Leadership if you need fast participation and a clean transition into trust and influence.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6400800"/>
            <a:ext cx="11338560" cy="18288"/>
          </a:xfrm>
          <a:prstGeom prst="rect">
            <a:avLst/>
          </a:prstGeom>
          <a:solidFill>
            <a:srgbClr val="4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F58"/>
                </a:solidFill>
                <a:latin typeface="Arial"/>
              </a:rPr>
              <a:t>LPD Session 1 | Leadership Foundations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D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778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Close Strong</a:t>
            </a:r>
          </a:p>
          <a:p>
            <a:pPr/>
            <a:r>
              <a:rPr sz="1200">
                <a:solidFill>
                  <a:srgbClr val="DCE2D9"/>
                </a:solidFill>
                <a:latin typeface="Arial"/>
              </a:rPr>
              <a:t>End with action, not just discussion.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4406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AD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63040"/>
            <a:ext cx="5440680" cy="411480"/>
          </a:xfrm>
          <a:prstGeom prst="rect">
            <a:avLst/>
          </a:prstGeom>
          <a:solidFill>
            <a:srgbClr val="4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36192"/>
            <a:ext cx="5166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FFFFFF"/>
                </a:solidFill>
                <a:latin typeface="Arial"/>
              </a:rPr>
              <a:t>Three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75104"/>
            <a:ext cx="5148072" cy="3877056"/>
          </a:xfrm>
          <a:prstGeom prst="rect">
            <a:avLst/>
          </a:prstGeom>
          <a:noFill/>
        </p:spPr>
        <p:txBody>
          <a:bodyPr wrap="square" lIns="50800" rIns="50800" tIns="50800" bIns="2540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1D2822"/>
                </a:solidFill>
                <a:latin typeface="Arial"/>
              </a:rPr>
              <a:t>A leader's lid can raise or lower the performance of the whole team.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1D2822"/>
                </a:solidFill>
                <a:latin typeface="Arial"/>
              </a:rPr>
              <a:t>Influence matters more than title when you need commitment, discipline, and initiative.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1D2822"/>
                </a:solidFill>
                <a:latin typeface="Arial"/>
              </a:rPr>
              <a:t>Trust is fragile, and every daily interaction either builds it or erodes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212080" cy="4480560"/>
          </a:xfrm>
          <a:prstGeom prst="roundRect">
            <a:avLst/>
          </a:prstGeom>
          <a:solidFill>
            <a:srgbClr val="FBFAF7"/>
          </a:solidFill>
          <a:ln>
            <a:solidFill>
              <a:srgbClr val="CAD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463040"/>
            <a:ext cx="5212080" cy="411480"/>
          </a:xfrm>
          <a:prstGeom prst="rect">
            <a:avLst/>
          </a:prstGeom>
          <a:solidFill>
            <a:srgbClr val="87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536192"/>
            <a:ext cx="4937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FFFFFF"/>
                </a:solidFill>
                <a:latin typeface="Arial"/>
              </a:rPr>
              <a:t>30-day leader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975104"/>
            <a:ext cx="4919472" cy="3877056"/>
          </a:xfrm>
          <a:prstGeom prst="rect">
            <a:avLst/>
          </a:prstGeom>
          <a:noFill/>
        </p:spPr>
        <p:txBody>
          <a:bodyPr wrap="square" lIns="50800" rIns="50800" tIns="50800" bIns="2540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1D2822"/>
                </a:solidFill>
                <a:latin typeface="Arial"/>
              </a:rPr>
              <a:t>Identify one leadership lid you will raise this month.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1D2822"/>
                </a:solidFill>
                <a:latin typeface="Arial"/>
              </a:rPr>
              <a:t>Use explanation and example before authority at least once this week.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1D2822"/>
                </a:solidFill>
                <a:latin typeface="Arial"/>
              </a:rPr>
              <a:t>Do one visible action that builds trust with your Soldiers.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1D2822"/>
                </a:solidFill>
                <a:latin typeface="Arial"/>
              </a:rPr>
              <a:t>Write the action down and follow up at the next LPD or counseling session.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9788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0645D"/>
                </a:solidFill>
                <a:latin typeface="Arial"/>
              </a:rPr>
              <a:t>Suggested closing question: What will your Soldiers see from you this week that proves this lesson mattered?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6400800"/>
            <a:ext cx="11338560" cy="18288"/>
          </a:xfrm>
          <a:prstGeom prst="rect">
            <a:avLst/>
          </a:prstGeom>
          <a:solidFill>
            <a:srgbClr val="4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1908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F58"/>
                </a:solidFill>
                <a:latin typeface="Arial"/>
              </a:rPr>
              <a:t>LPD Session 1 | Leadership Foundations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D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778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References</a:t>
            </a:r>
          </a:p>
          <a:p>
            <a:pPr/>
            <a:r>
              <a:rPr sz="1200">
                <a:solidFill>
                  <a:srgbClr val="DCE2D9"/>
                </a:solidFill>
                <a:latin typeface="Arial"/>
              </a:rPr>
              <a:t>Primary sources used to build the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480560"/>
          </a:xfrm>
          <a:prstGeom prst="rect">
            <a:avLst/>
          </a:prstGeom>
          <a:noFill/>
        </p:spPr>
        <p:txBody>
          <a:bodyPr wrap="square" lIns="50800" rIns="50800" tIns="50800" bIns="2540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>
                <a:solidFill>
                  <a:srgbClr val="1D2822"/>
                </a:solidFill>
                <a:latin typeface="Arial"/>
              </a:rPr>
              <a:t>John C. Maxwell, Leadership 101, especially the Laws of the Lid, Influence, and Solid Ground.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>
                <a:solidFill>
                  <a:srgbClr val="1D2822"/>
                </a:solidFill>
                <a:latin typeface="Arial"/>
              </a:rPr>
              <a:t>ADP 6-22, Army Leadership and the Profession.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>
                <a:solidFill>
                  <a:srgbClr val="1D2822"/>
                </a:solidFill>
                <a:latin typeface="Arial"/>
              </a:rPr>
              <a:t>FM 6-22, Developing Leaders.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>
                <a:solidFill>
                  <a:srgbClr val="1D2822"/>
                </a:solidFill>
                <a:latin typeface="Arial"/>
              </a:rPr>
              <a:t>FM 1, The Army.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>
                <a:solidFill>
                  <a:srgbClr val="1D2822"/>
                </a:solidFill>
                <a:latin typeface="Arial"/>
              </a:rPr>
              <a:t>AR 600-100, Army Profession and Leadership Policy.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>
                <a:solidFill>
                  <a:srgbClr val="1D2822"/>
                </a:solidFill>
                <a:latin typeface="Arial"/>
              </a:rPr>
              <a:t>DA PAM 165-19, Moral Leadership.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>
                <a:solidFill>
                  <a:srgbClr val="1D2822"/>
                </a:solidFill>
                <a:latin typeface="Arial"/>
              </a:rPr>
              <a:t>Supporting references from the source spreadsheet: ADP 1, DA PAM 600-25, TC 7-22.7, and ADP 7-0.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257800"/>
            <a:ext cx="10378440" cy="822960"/>
          </a:xfrm>
          <a:prstGeom prst="roundRect">
            <a:avLst/>
          </a:prstGeom>
          <a:solidFill>
            <a:srgbClr val="FBFAF7"/>
          </a:solidFill>
          <a:ln>
            <a:solidFill>
              <a:srgbClr val="CAD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5257800"/>
            <a:ext cx="10378440" cy="411480"/>
          </a:xfrm>
          <a:prstGeom prst="rect">
            <a:avLst/>
          </a:prstGeom>
          <a:solidFill>
            <a:srgbClr val="87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5330952"/>
            <a:ext cx="10104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FFFFFF"/>
                </a:solidFill>
                <a:latin typeface="Arial"/>
              </a:rPr>
              <a:t>Final edit reminder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5769864"/>
            <a:ext cx="10085832" cy="219456"/>
          </a:xfrm>
          <a:prstGeom prst="rect">
            <a:avLst/>
          </a:prstGeom>
          <a:noFill/>
        </p:spPr>
        <p:txBody>
          <a:bodyPr wrap="square" lIns="50800" rIns="50800" tIns="50800" bIns="2540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1D2822"/>
                </a:solidFill>
                <a:latin typeface="Arial"/>
              </a:rPr>
              <a:t>Swap in unit examples, add your rank and unit on slide 1, and tailor the discussion prompts to your Soldiers.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400800"/>
            <a:ext cx="11338560" cy="18288"/>
          </a:xfrm>
          <a:prstGeom prst="rect">
            <a:avLst/>
          </a:prstGeom>
          <a:solidFill>
            <a:srgbClr val="4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F58"/>
                </a:solidFill>
                <a:latin typeface="Arial"/>
              </a:rPr>
              <a:t>LPD Session 1 | Leadership Foundations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