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77240"/>
            <a:ext cx="164592" cy="4572000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9692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Session 1: The Foundation of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3DB"/>
                </a:solidFill>
                <a:latin typeface="Arial"/>
              </a:rPr>
              <a:t>Influence and Trust | Expanded from the original LPD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92608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7ECE6"/>
                </a:solidFill>
                <a:latin typeface="Arial"/>
              </a:rPr>
              <a:t>This version keeps the framework intact and builds it out with facilitator language, doctrine tie-ins, discussion prompts, and delivery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977639"/>
            <a:ext cx="3886200" cy="1371600"/>
          </a:xfrm>
          <a:prstGeom prst="roundRect">
            <a:avLst/>
          </a:prstGeom>
          <a:solidFill>
            <a:srgbClr val="2C3932"/>
          </a:solidFill>
          <a:ln>
            <a:solidFill>
              <a:srgbClr val="4F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427939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Leadership in the Army is influence backed by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919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2DAD0"/>
                </a:solidFill>
                <a:latin typeface="Arial"/>
              </a:rPr>
              <a:t>Ready for final unit-level edits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How to Use This Expanded Framework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Built to preserve your original structure while giving you more usable content in the room.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9496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07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this version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12064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Keeps the original Session 1 theme: Leadership foundations through influence and trust.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Preserves the three anchor concepts from the spreadsheet: Lid, Influence, Solid Ground.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Expands doctrine tie-ins, talk tracks, and discussion prompts for each concept.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Adds facilitator-ready exercise guidance, timing, and closing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30352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Recommended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02920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Use the slides as your visual backbone, not a word-for-word script.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Trim or combine slides depending on available time.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Insert one or two examples from your formation before presenting.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If presenting to junior Soldiers, simplify doctrine language and keep examples practical.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05C"/>
                </a:solidFill>
                <a:latin typeface="Arial"/>
              </a:rPr>
              <a:t>Best fit: a 45 to 60 minute LPD with discussion, one activity, and a clear closeout challenge.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Original Framework, Expanded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This slide mirrors the source structure and shows how the brief is organized.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01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331720"/>
                <a:gridCol w="2606040"/>
                <a:gridCol w="4343400"/>
              </a:tblGrid>
              <a:tr h="10287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Session</a:t>
                      </a:r>
                    </a:p>
                  </a:txBody>
                  <a:tcPr>
                    <a:solidFill>
                      <a:srgbClr val="4F6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Maxwell principle</a:t>
                      </a:r>
                    </a:p>
                  </a:txBody>
                  <a:tcPr>
                    <a:solidFill>
                      <a:srgbClr val="4F6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Army reference</a:t>
                      </a:r>
                    </a:p>
                  </a:txBody>
                  <a:tcPr>
                    <a:solidFill>
                      <a:srgbClr val="4F6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Expanded briefing focus</a:t>
                      </a:r>
                    </a:p>
                  </a:txBody>
                  <a:tcPr>
                    <a:solidFill>
                      <a:srgbClr val="4F654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Foundation of Leadership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Law of the 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ADP 6-22, FM 6-22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Why leader development raises unit effectiveness and why stagnation hurts the team.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Foundation of Leadership</a:t>
                      </a:r>
                    </a:p>
                  </a:txBody>
                  <a:tcPr>
                    <a:solidFill>
                      <a:srgbClr val="F9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Law of Influence</a:t>
                      </a:r>
                    </a:p>
                  </a:txBody>
                  <a:tcPr>
                    <a:solidFill>
                      <a:srgbClr val="F9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ADP 6-22, FM 1</a:t>
                      </a:r>
                    </a:p>
                  </a:txBody>
                  <a:tcPr>
                    <a:solidFill>
                      <a:srgbClr val="F9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How leaders earn followership beyond title, authority, or positional power.</a:t>
                      </a:r>
                    </a:p>
                  </a:txBody>
                  <a:tcPr>
                    <a:solidFill>
                      <a:srgbClr val="F9F9F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Foundation of Leadership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Law of Solid 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AR 600-100, DA PAM 165-19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420"/>
                          </a:solidFill>
                          <a:latin typeface="Arial"/>
                        </a:rPr>
                        <a:t>Why trust is the foundation for climate, standards, and team cohesion.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5623560"/>
            <a:ext cx="10378440" cy="621792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623560"/>
            <a:ext cx="1037844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5678424"/>
            <a:ext cx="1010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Facilitator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6099048"/>
            <a:ext cx="101041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2420"/>
                </a:solidFill>
                <a:latin typeface="Arial"/>
              </a:rPr>
              <a:t>Present these ideas as reinforcing Army doctrine, not replacing it. Maxwell gives you language. Doctrine gives you legitimacy and standards.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Law of the Lid | Expanded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Original framework idea: Leadership ability determines a person's level of effectiveness.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44068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Doctrine tie-in and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51663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ADP 6-22 and FM 6-22 emphasize continuous development, reflection, and self-improvement.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 leader's strengths or weaknesses do not stay personal. They shape the capability of the whole formation.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When a leader stops learning, the team often feels it in standards, communication, and initiative.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The practical Army question is not whether we have a lid. It is whether we are raising it on purpose.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25780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289304"/>
            <a:ext cx="498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to emphasize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09928"/>
            <a:ext cx="498348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Development is not just PME. It includes counseling, feedback, repetition, reading, coaching, and humility.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Leaders should identify one specific limitation, not a vague desire to get better.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Command climate matters. If growth is punished, leaders stop trying.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789920" cy="621792"/>
          </a:xfrm>
          <a:prstGeom prst="roundRect">
            <a:avLst/>
          </a:prstGeom>
          <a:solidFill>
            <a:srgbClr val="E9E2D2"/>
          </a:solidFill>
          <a:ln>
            <a:solidFill>
              <a:srgbClr val="D5C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50408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420"/>
                </a:solidFill>
                <a:latin typeface="Arial"/>
              </a:rPr>
              <a:t>"The lower an individual's ability to lead, the lower the lid on his potential. The higher the leadership, the greater the effectiveness."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986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603F"/>
                </a:solidFill>
                <a:latin typeface="Arial"/>
              </a:rPr>
              <a:t>John C. Maxwell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Law of the Lid | Facilitated Discussion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Keep the discussion practical and grounded in what leaders see every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Facilitator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02920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Frame it this way: every leader has a ceiling somewhere, and it usually shows up under stress.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Ask for examples of common lids in junior leaders, team leaders, or squad leaders.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Push toward action by asking how we deliberately raise that ceiling.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440680" cy="288036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44068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3807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Discussion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801368"/>
            <a:ext cx="516636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How does the Army's emphasis on PME, operational assignments, and self-development raise our leadership lid?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What is one lid that commonly limits leaders in our unit right now?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What conditions in a unit help leaders grow, and what conditions keep them stuck?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434840"/>
            <a:ext cx="5440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4434840"/>
            <a:ext cx="5440680" cy="38404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448970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you want them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910328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Leadership development is a duty, not a hobby.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The first step is honest self-assessment, followed by one clear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Law of Influence | Expanded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Original framework idea: The true measure of leadership is influence, nothing more, nothing less.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44068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Doctrine tie-in and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51663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ADP 6-22 defines leadership as influencing people by providing purpose, direction, and motivation.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This means influence is already central to Army leadership, not just a business-book idea.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Rank can compel compliance, but influence creates commitment, initiative, and follow-through.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The best leaders explain intent, enforce standards fairly, and make Soldiers feel led, not managed.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25780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289304"/>
            <a:ext cx="498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to emphasize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09928"/>
            <a:ext cx="498348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Influence grows when leaders are competent, consistent, and personally invested in their people.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It weakens when leaders hide behind rank or only show up to correct problems.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Soldiers can tell the difference between authority and leadership very quickly.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789920" cy="621792"/>
          </a:xfrm>
          <a:prstGeom prst="roundRect">
            <a:avLst/>
          </a:prstGeom>
          <a:solidFill>
            <a:srgbClr val="E9E2D2"/>
          </a:solidFill>
          <a:ln>
            <a:solidFill>
              <a:srgbClr val="D5C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50408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420"/>
                </a:solidFill>
                <a:latin typeface="Arial"/>
              </a:rPr>
              <a:t>"A real leader knows the difference between being a boss and being a leader."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986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603F"/>
                </a:solidFill>
                <a:latin typeface="Arial"/>
              </a:rPr>
              <a:t>John C. Maxwell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Law of Influence | Facilitated Discussion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This is usually the easiest concept for Soldiers to connect with because everyone has seen both good and bad examples.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Facilitator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02920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Start with a simple distinction: authority may get movement, but influence gets effort and ownership.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Invite examples of leaders who built influence without raising their voice or pulling rank.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Tie responses back to purpose, direction, and motivation.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440680" cy="288036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44068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3807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Discussion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801368"/>
            <a:ext cx="516636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How do we build influence beyond our rank?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What specific leader behaviors make Soldiers want to follow instead of just comply?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How does poor communication damage influence even when authority is still intact?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434840"/>
            <a:ext cx="5440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4434840"/>
            <a:ext cx="5440680" cy="38404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448970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you want them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910328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Influence is earned daily through competence, clarity, fairness, and example.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A leader who cannot influence will eventually lean too hard on position.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Law of Solid Ground | Expanded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Original framework idea: Trust is the foundation of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44068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Doctrine tie-in and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09928"/>
            <a:ext cx="51663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AR 600-100 and DA PAM 165-19 reinforce that trust is foundational to the profession and to relationships inside the formation.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Trust depends on character, competence, and commitment, not just intentions.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When trust is high, communication is more honest, standards are more credible, and teams are more resilient.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When trust is low, even correct orders are received with doubt or disengagement.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25780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289304"/>
            <a:ext cx="498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to emphasize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09928"/>
            <a:ext cx="498348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Trust is built in small moments: fairness, follow-through, truthfulness, and moral courage.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It is usually eroded by inconsistency, favoritism, weak accountability, or broken promises.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Rebuilding trust takes time and visible behavior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789920" cy="621792"/>
          </a:xfrm>
          <a:prstGeom prst="roundRect">
            <a:avLst/>
          </a:prstGeom>
          <a:solidFill>
            <a:srgbClr val="E9E2D2"/>
          </a:solidFill>
          <a:ln>
            <a:solidFill>
              <a:srgbClr val="D5C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50408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420"/>
                </a:solidFill>
                <a:latin typeface="Arial"/>
              </a:rPr>
              <a:t>"Trust is the bedrock upon which we ground our relationship with the American people."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986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603F"/>
                </a:solidFill>
                <a:latin typeface="Arial"/>
              </a:rPr>
              <a:t>DA PAM 165-19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Law of Solid Ground | Facilitated Discussion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This is the most important section if you want the room to connect leadership theory to unit climate.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Facilitator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02920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Ask for examples of trust-builders and trust-breakers in real formations.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Keep the discussion professional and avoid turning it into a complaint session.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If needed, redirect from personalities to patterns of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440680" cy="288036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44068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3807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Discussion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801368"/>
            <a:ext cx="516636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What actions erode trust fastest in a unit?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How can leaders be more intentional about building and maintaining trust with Soldiers, peers, and superiors?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If trust is damaged, what does rebuilding it actually require?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434840"/>
            <a:ext cx="5440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4434840"/>
            <a:ext cx="5440680" cy="38404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448970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you want them to leave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910328"/>
            <a:ext cx="5166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Trust is not abstract. Soldiers feel it in fairness, honesty, competence, and accountability.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Without trust, leadership influence collapses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Exercise Expansion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These keep the activities from the spreadsheet but give you a more usable facilitation lane.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39496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35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Exercise 1 | The Lid self-assessment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512064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Purpose: drive honest self-assessment and produce one development action.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Method: have leaders score themselves against ADP 6-22 competencies or attributes.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Ask three questions: What is my biggest lid? What resource can help? What will I do in 30 days?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Use small-group sharing for goals, not personal weaknesses, to keep the tone professional.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Close by asking for one volunteer takeaway and one concrete next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70916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0352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3502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Exercise 2 | Influence beyond rank role-play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55648"/>
            <a:ext cx="502920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Purpose: show the difference between authority and influence.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Scenario: last-minute clean-up detail cancels early release.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Leader task: gain buy-in without using "because I said so."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Observer task: note what actually created willingness to follow.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AAR questions: What language built buy-in? What shut it down? What would work in our unit?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Icebreakers from the Framework, Now with Recommended Use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Use only one. The goal is to loosen the room and transition into leadership discussion.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274320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893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Fastest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246888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One Word for Leadership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3 to 5 minutes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Best for quick engagement and easy transition to trust and influence.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34440"/>
            <a:ext cx="274320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234440"/>
            <a:ext cx="2743200" cy="38404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289304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Most flexible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709928"/>
            <a:ext cx="246888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Leadership If-Then Statement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3 to 5 minutes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Good when you want concise participation from everyone.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234440"/>
            <a:ext cx="2514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1234440"/>
            <a:ext cx="251460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28930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Most fun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709928"/>
            <a:ext cx="224028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Two Truths and a Lie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5 to 7 minutes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2420"/>
                </a:solidFill>
                <a:latin typeface="Arial"/>
              </a:rPr>
              <a:t>Good for breaking tension in a new or mixed group.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234440"/>
            <a:ext cx="219456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72600" y="1234440"/>
            <a:ext cx="2194560" cy="384048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2" y="128930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Most reflective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1709928"/>
            <a:ext cx="192024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2420"/>
                </a:solidFill>
                <a:latin typeface="Arial"/>
              </a:rPr>
              <a:t>Leadership Superpower or Most Valuable Lesson Learned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420"/>
                </a:solidFill>
                <a:latin typeface="Arial"/>
              </a:rPr>
              <a:t>7 to 15 minutes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2420"/>
                </a:solidFill>
                <a:latin typeface="Arial"/>
              </a:rPr>
              <a:t>Best for experienced groups or deeper discussion.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07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05C"/>
                </a:solidFill>
                <a:latin typeface="Arial"/>
              </a:rPr>
              <a:t>Recommendation if you need a clean start: use One Word for Leadership, write responses on a board, then connect them to trust, development, and influence.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Suggested Closeout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This ending keeps the session actionable and brings the lesson back to the unit.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4924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0744"/>
            <a:ext cx="5074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Three closeout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0749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Your current leadership ability affects more people than just you.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Influence is what turns compliance into commitment.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A2420"/>
                </a:solidFill>
                <a:latin typeface="Arial"/>
              </a:rPr>
              <a:t>Trust is built slowly and lost quickly, so leaders must guard it daily.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48056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30352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Final challenge to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02920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Identify one leadership lid you will raise in the next 30 days.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Do one thing this week that builds influence without leaning on rank.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Do one thing this week that visibly strengthens trust with your Soldiers.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If possible, revisit commitments at the next LPD, counseling, or huddle.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05C"/>
                </a:solidFill>
                <a:latin typeface="Arial"/>
              </a:rPr>
              <a:t>Suggested final question: What will your Soldiers notice this week that proves this lesson changed something in you?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rial"/>
              </a:rPr>
              <a:t>References and Final Edit Checklist</a:t>
            </a:r>
          </a:p>
          <a:p>
            <a:r>
              <a:rPr sz="1100">
                <a:solidFill>
                  <a:srgbClr val="D6DCD5"/>
                </a:solidFill>
                <a:latin typeface="Arial"/>
              </a:rPr>
              <a:t>Sources from the spreadsheet plus the edits you should make before presenting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384048"/>
          </a:xfrm>
          <a:prstGeom prst="rect">
            <a:avLst/>
          </a:prstGeom>
          <a:solidFill>
            <a:srgbClr val="4F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502920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John C. Maxwell, Leadership 101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ADP 6-22, Army Leadership and the Profession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FM 6-22, Developing Leaders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FM 1, The Army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AR 600-100, Army Profession and Leadership Policy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DA PAM 165-19, Moral Leadership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Supporting references listed in the source: ADP 1, DA PAM 600-25, TC 7-22.7, ADP 7-0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FBFAF7"/>
          </a:solidFill>
          <a:ln>
            <a:solidFill>
              <a:srgbClr val="8496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303520" cy="384048"/>
          </a:xfrm>
          <a:prstGeom prst="rect">
            <a:avLst/>
          </a:prstGeom>
          <a:solidFill>
            <a:srgbClr val="7B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80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Before you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02920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Add your rank, unit, and date on the title slide.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Swap in one example from your unit for each main concept.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Adjust language for the maturity and rank of the audience.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If short on time, cut one discussion slide and keep one exercise.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2420"/>
                </a:solidFill>
                <a:latin typeface="Arial"/>
              </a:rPr>
              <a:t>If you want a stronger Army feel, add a unit crest or patch image in Keynote.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00800"/>
            <a:ext cx="11292840" cy="18288"/>
          </a:xfrm>
          <a:prstGeom prst="rect">
            <a:avLst/>
          </a:prstGeom>
          <a:solidFill>
            <a:srgbClr val="849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5C"/>
                </a:solidFill>
                <a:latin typeface="Arial"/>
              </a:rPr>
              <a:t>Session 1 | Foundation of Leadership | Expanded from original LPD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